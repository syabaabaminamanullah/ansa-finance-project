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oreter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8304" y="1371600"/>
            <a:ext cx="2743200" cy="90868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200400"/>
            <a:ext cx="103601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COMPANY PROFILE &amp; STRATEGIC OVERVIEW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2200">
                <a:solidFill>
                  <a:srgbClr val="C25934"/>
                </a:solidFill>
              </a:defRPr>
            </a:pPr>
            <a:r>
              <a:t>Pioneering Precision in Geotechnical Engineering &amp; Resource Exploration</a:t>
            </a:r>
            <a:br/>
            <a:br/>
            <a:r>
              <a:t>PT CORETERRA GEO ENGINEERING</a:t>
            </a:r>
            <a:br/>
            <a:r>
              <a:t>Ciputat, Tangerang Selatan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C259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coreter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182880"/>
            <a:ext cx="1371600" cy="45434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828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t>PT Coreterra Geo Engineering adalah ujung tombak di sektor rekayasa geoteknik, pengeboran, dan survei geofisika. Kami hadir untuk mendisrupsi industri infrastruktur melalui presisi data bawah permukaan yang tak tertandingi.</a:t>
            </a:r>
          </a:p>
          <a:p>
            <a:pPr>
              <a:spcBef>
                <a:spcPts val="1400"/>
              </a:spcBef>
              <a:defRPr b="1" sz="2000">
                <a:solidFill>
                  <a:srgbClr val="C25934"/>
                </a:solidFill>
              </a:defRPr>
            </a:pPr>
            <a:r>
              <a:t>Masalah Industri:</a:t>
            </a:r>
          </a:p>
          <a:p>
            <a:pPr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t>Pasar terjebak pada layanan konvensional yang lambat dan rentan cost-overrun. Kami memecahkan ini dengan memadukan eksekusi presisi (mobilisasi 5 rig serentak) dan kontrol Cloud ERP real-time.</a:t>
            </a:r>
          </a:p>
          <a:p>
            <a:pPr>
              <a:spcBef>
                <a:spcPts val="1400"/>
              </a:spcBef>
              <a:defRPr b="1" sz="2000">
                <a:solidFill>
                  <a:srgbClr val="C25934"/>
                </a:solidFill>
              </a:defRPr>
            </a:pPr>
            <a:r>
              <a:t>Traksi &amp; Pencapaian:</a:t>
            </a:r>
          </a:p>
          <a:p>
            <a:pPr>
              <a:spcBef>
                <a:spcPts val="1400"/>
              </a:spcBef>
              <a:defRPr b="1" sz="2000">
                <a:solidFill>
                  <a:srgbClr val="C25934"/>
                </a:solidFill>
              </a:defRPr>
            </a:pPr>
            <a:r>
              <a:t>- Total Inflow Kuartal III 2026: Rp 1,47 Miliar</a:t>
            </a:r>
          </a:p>
          <a:p>
            <a:pPr lvl="1"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t>- Backlog Pipeline Aktif: Rp 2,07 Miliar (Proyek IKPT Solok)</a:t>
            </a:r>
          </a:p>
          <a:p>
            <a:pPr>
              <a:spcBef>
                <a:spcPts val="1400"/>
              </a:spcBef>
              <a:defRPr b="1" sz="2000">
                <a:solidFill>
                  <a:srgbClr val="C25934"/>
                </a:solidFill>
              </a:defRPr>
            </a:pPr>
            <a:r>
              <a:t>- Zero Bad-Debt: 0,0% tingkat gagal bayar klien.</a:t>
            </a:r>
          </a:p>
          <a:p>
            <a:pPr>
              <a:spcBef>
                <a:spcPts val="1400"/>
              </a:spcBef>
              <a:defRPr b="1" sz="2000">
                <a:solidFill>
                  <a:srgbClr val="C25934"/>
                </a:solidFill>
              </a:defRPr>
            </a:pPr>
            <a:r>
              <a:t>Mission Statement:</a:t>
            </a:r>
          </a:p>
          <a:p>
            <a:pPr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t>Menyediakan intelijen geoteknik dan eksekusi pengeboran berstandar global.</a:t>
            </a:r>
          </a:p>
          <a:p>
            <a:pPr>
              <a:spcBef>
                <a:spcPts val="1400"/>
              </a:spcBef>
              <a:defRPr b="1" sz="2000">
                <a:solidFill>
                  <a:srgbClr val="C25934"/>
                </a:solidFill>
              </a:defRPr>
            </a:pPr>
            <a:r>
              <a:t>Unique Value Proposition:</a:t>
            </a:r>
          </a:p>
          <a:p>
            <a:pPr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t>Zero-Default Financial Integrity dipadukan dengan Agile Rig Mobilization.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C259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coreter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182880"/>
            <a:ext cx="1371600" cy="45434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828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FFFFFF"/>
                </a:solidFill>
              </a:defRPr>
            </a:pPr>
            <a:r>
              <a:t>ABOUT US &amp; CORPORATE VALUES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defRPr b="1" sz="2000">
                <a:solidFill>
                  <a:srgbClr val="C25934"/>
                </a:solidFill>
              </a:defRPr>
            </a:pPr>
            <a:r>
              <a:t>Sejarah Singkat &amp; Visi 10 Tahun:</a:t>
            </a:r>
          </a:p>
          <a:p>
            <a:pPr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t>Berawal dari eksekusi survei geolistrik berskala menengah, kami bertransformasi menjadi kontraktor geoteknik full-stack. Visi 10 tahun kami adalah berevolusi menjadi Data-Driven Geo-Intelligence Company dengan pemetaan prediktif terlengkap di Indonesia.</a:t>
            </a:r>
          </a:p>
          <a:p>
            <a:pPr>
              <a:spcBef>
                <a:spcPts val="1400"/>
              </a:spcBef>
              <a:defRPr b="1" sz="2000">
                <a:solidFill>
                  <a:srgbClr val="C25934"/>
                </a:solidFill>
              </a:defRPr>
            </a:pPr>
            <a:r>
              <a:t>3 Nilai Utama (Core Values):</a:t>
            </a:r>
          </a:p>
          <a:p>
            <a:pPr lvl="1"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t>1. Precision Without Compromise: Keakuratan data log bor dan survei geofisika adalah nyawa layanan kami.</a:t>
            </a:r>
          </a:p>
          <a:p>
            <a:pPr lvl="1"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t>2. Lean &amp; Agile Execution: OPEX hanya 1,3%, fokus 98,7% pada eksekusi lapangan (COGS).</a:t>
            </a:r>
          </a:p>
          <a:p>
            <a:pPr lvl="1"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t>3. Safety &amp; Absolute Solvency: Integritas struktural dan finansial (Zero Bank Debt).</a:t>
            </a:r>
          </a:p>
          <a:p>
            <a:pPr>
              <a:spcBef>
                <a:spcPts val="1400"/>
              </a:spcBef>
              <a:defRPr b="1" sz="2000">
                <a:solidFill>
                  <a:srgbClr val="C25934"/>
                </a:solidFill>
              </a:defRPr>
            </a:pPr>
            <a:r>
              <a:t>Kredibilitas &amp; Legalitas:</a:t>
            </a:r>
          </a:p>
          <a:p>
            <a:pPr lvl="1"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t>- Entitas Legal: Perseroan Terbatas (PT) Tersertifikasi NIB.</a:t>
            </a:r>
          </a:p>
          <a:p>
            <a:pPr lvl="1"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t>- Audit Finansial: Terintegrasi via sistem CoreTerra ERP (Perfect Match 100% Bank Mandiri &amp; CIMB Niaga).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C259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coreter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182880"/>
            <a:ext cx="1371600" cy="45434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828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FFFFFF"/>
                </a:solidFill>
              </a:defRPr>
            </a:pPr>
            <a:r>
              <a:t>THE INDUSTRY PROBLEM &amp; PAIN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lvl="1"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t>1. Kebutaan Data Sub-Permukaan</a:t>
            </a:r>
          </a:p>
          <a:p>
            <a:pPr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t>Banyak proyek bergantung pada data sampel geologi yang minim atau usang, menyebabkan cost overrun &gt; 35% di proyek infrastruktur sipil besar.</a:t>
            </a:r>
          </a:p>
          <a:p>
            <a:pPr lvl="1"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t>2. Inefisiensi Mobilisasi Alat Berat</a:t>
            </a:r>
          </a:p>
          <a:p>
            <a:pPr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t>Pasar didominasi pemain lama yang lamban ke daerah terpencil, mengakibatkan downtime mingguan dan penalti denda (liquidated damages) bagi Main-Con.</a:t>
            </a:r>
          </a:p>
          <a:p>
            <a:pPr lvl="1"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t>3. Cash-Flow Bottlenecks (Kemacetan Kas)</a:t>
            </a:r>
          </a:p>
          <a:p>
            <a:pPr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t>Vendor sering kehabisan napas membiayai operasi (logistik &amp; upah kru) sebelum termin awal dicairkan, menyebabkan proyek terhenti dan kepercayaan klien hancur.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C259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coreter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182880"/>
            <a:ext cx="1371600" cy="45434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828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FFFFFF"/>
                </a:solidFill>
              </a:defRPr>
            </a:pPr>
            <a:r>
              <a:t>OUR SOLUTION &amp; VALUE PROPOSITION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lvl="1"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t>1. Pengeboran Geoteknik &amp; Struktur Borpile (Agile Drilling)</a:t>
            </a:r>
          </a:p>
          <a:p>
            <a:pPr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t>Metodologi: Pengerahan Multi-Rig serentak (contoh: 5 rig simultan di proyek Solok).</a:t>
            </a:r>
          </a:p>
          <a:p>
            <a:pPr>
              <a:spcBef>
                <a:spcPts val="1400"/>
              </a:spcBef>
              <a:defRPr b="1" sz="2000">
                <a:solidFill>
                  <a:srgbClr val="C25934"/>
                </a:solidFill>
              </a:defRPr>
            </a:pPr>
            <a:r>
              <a:t>Manfaat: Mempercepat serah terima fase pertama hingga 40%.</a:t>
            </a:r>
          </a:p>
          <a:p>
            <a:pPr lvl="1"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t>2. Eksplorasi Geofisika Presisi Tinggi (Geolistrik &amp; Magnetik)</a:t>
            </a:r>
          </a:p>
          <a:p>
            <a:pPr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t>Metodologi: Pemetaan bawah permukaan non-destruktif dengan magnetometer mutakhir.</a:t>
            </a:r>
          </a:p>
          <a:p>
            <a:pPr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t>Manfaat: Menghemat miliaran rupiah dari potensi kesalahan desain infrastruktur/tambang.</a:t>
            </a:r>
          </a:p>
          <a:p>
            <a:pPr lvl="1"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t>3. ERP-Powered Project Management (Transparansi Real-Time)</a:t>
            </a:r>
          </a:p>
          <a:p>
            <a:pPr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t>Metodologi: Pelaporan operasional harian (Daily Progress) via Cloud ERP.</a:t>
            </a:r>
          </a:p>
          <a:p>
            <a:pPr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t>Manfaat: Memangkas proses approval termin penagihan hingga 30% tanpa sengketa hitungan.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C259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coreter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182880"/>
            <a:ext cx="1371600" cy="45434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828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FFFFFF"/>
                </a:solidFill>
              </a:defRPr>
            </a:pPr>
            <a:r>
              <a:t>MARKET SIZE &amp; BUSINESS OPPORTUNITY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t>Pasar layanan geoteknik di Indonesia berada pada fase hyper-growth, didorong oleh masifnya proyek bendungan, tambang, dan PLTA/PLTM:</a:t>
            </a:r>
          </a:p>
          <a:p>
            <a:pPr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t>TAM (Total Addressable Market) - Rp 45 Triliun+</a:t>
            </a:r>
          </a:p>
          <a:p>
            <a:pPr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t>Total pengeluaran nasional tahunan untuk ground engineering, konstruksi fondasi khusus, dan pemetaan sumber daya alam.</a:t>
            </a:r>
          </a:p>
          <a:p>
            <a:pPr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t>SAM (Serviceable Addressable Market) - Rp 8,5 Triliun</a:t>
            </a:r>
          </a:p>
          <a:p>
            <a:pPr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t>Porsi pasar untuk core-drilling tambang, survei geofisika, borpile di Sumatera &amp; Jawa.</a:t>
            </a:r>
          </a:p>
          <a:p>
            <a:pPr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t>SOM (Serviceable Obtainable Market) - Rp 150 Miliar</a:t>
            </a:r>
          </a:p>
          <a:p>
            <a:pPr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t>Target penguasaan kontrak riil PT Coreterra Geo Engineering secara realistis dalam 36 bulan ke depan.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C259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coreter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182880"/>
            <a:ext cx="1371600" cy="45434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828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FFFFFF"/>
                </a:solidFill>
              </a:defRPr>
            </a:pPr>
            <a:r>
              <a:t>TRACTION &amp; PORTFOLIO BUKTI NYATA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defRPr b="1" sz="2000">
                <a:solidFill>
                  <a:srgbClr val="C25934"/>
                </a:solidFill>
              </a:defRPr>
            </a:pPr>
            <a:r>
              <a:t>Kinerja Klien &amp; Portofolio B2B (Q3 2026):</a:t>
            </a:r>
          </a:p>
          <a:p>
            <a:pPr>
              <a:spcBef>
                <a:spcPts val="1400"/>
              </a:spcBef>
              <a:defRPr b="1" sz="2000">
                <a:solidFill>
                  <a:srgbClr val="C25934"/>
                </a:solidFill>
              </a:defRPr>
            </a:pPr>
            <a:r>
              <a:t>- Retensi Klien B2B: Sangat Tinggi (Zero Default).</a:t>
            </a:r>
          </a:p>
          <a:p>
            <a:pPr>
              <a:spcBef>
                <a:spcPts val="1400"/>
              </a:spcBef>
              <a:defRPr b="1" sz="2000">
                <a:solidFill>
                  <a:srgbClr val="C25934"/>
                </a:solidFill>
              </a:defRPr>
            </a:pPr>
            <a:r>
              <a:t>- Total Portofolio Realized: Rp 1.470.289.340,-</a:t>
            </a:r>
          </a:p>
          <a:p>
            <a:pPr>
              <a:spcBef>
                <a:spcPts val="1400"/>
              </a:spcBef>
              <a:defRPr b="1" sz="2000">
                <a:solidFill>
                  <a:srgbClr val="C25934"/>
                </a:solidFill>
              </a:defRPr>
            </a:pPr>
            <a:r>
              <a:t>- Backlog Aktif Berjalan: Rp 2.070.000.000,-</a:t>
            </a:r>
          </a:p>
          <a:p>
            <a:pPr>
              <a:spcBef>
                <a:spcPts val="1400"/>
              </a:spcBef>
              <a:defRPr b="1" sz="2000">
                <a:solidFill>
                  <a:srgbClr val="C25934"/>
                </a:solidFill>
              </a:defRPr>
            </a:pPr>
            <a:r>
              <a:t>Portofolio Klien Strategis Utama:</a:t>
            </a:r>
          </a:p>
          <a:p>
            <a:pPr lvl="1"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t>- PT Solusi Monitoring Indonesia (IKPT Solok): Proyek Borpile, aktif berjalan, 5 Rig.</a:t>
            </a:r>
          </a:p>
          <a:p>
            <a:pPr lvl="1"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t>- Bathwal Corporation / PT Citatah: Limestone Core Drilling, Lunas (Margin +23,0%).</a:t>
            </a:r>
          </a:p>
          <a:p>
            <a:pPr lvl="1"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t>- PT Volta Indo Technology: Geolistrik PLTM Pongkor, Lunas (Margin +43,8%).</a:t>
            </a:r>
          </a:p>
          <a:p>
            <a:pPr lvl="1"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t>- LSI Engineering &amp; Consultants Ltd: Survei Magnetik Bukit Besi, Menunggu Termin.</a:t>
            </a:r>
          </a:p>
          <a:p>
            <a:pPr>
              <a:spcBef>
                <a:spcPts val="1400"/>
              </a:spcBef>
              <a:defRPr b="1" sz="2000">
                <a:solidFill>
                  <a:srgbClr val="C25934"/>
                </a:solidFill>
              </a:defRPr>
            </a:pPr>
            <a:r>
              <a:t>Studi Kasus Eksekusi:</a:t>
            </a:r>
          </a:p>
          <a:p>
            <a:pPr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t>Proyek PT Citatah mencatatkan surplus margin efisiensi murni sebesar +23,0% (dari inflow 457,6 Juta ditekan outflow menjadi 352,2 Juta).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C259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coreter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182880"/>
            <a:ext cx="1371600" cy="45434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828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FFFFFF"/>
                </a:solidFill>
              </a:defRPr>
            </a:pPr>
            <a:r>
              <a:t>BUSINESS MODEL &amp; SUPPLY CHAIN MOAT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defRPr b="1" sz="2000">
                <a:solidFill>
                  <a:srgbClr val="C25934"/>
                </a:solidFill>
              </a:defRPr>
            </a:pPr>
            <a:r>
              <a:t>Cara Kami Mencetak Pendapatan (Revenue Streams):</a:t>
            </a:r>
          </a:p>
          <a:p>
            <a:pPr lvl="1"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t>1. Kontrak Borpile &amp; Struktur: B2B Project-Based, skema progress billing ber-volume tinggi.</a:t>
            </a:r>
          </a:p>
          <a:p>
            <a:pPr lvl="1"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t>2. Jasa Survei Geofisika Dasar: Proyek short-term dengan margin bersih tinggi (+43,8%).</a:t>
            </a:r>
          </a:p>
          <a:p>
            <a:pPr lvl="1"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t>3. Core Drilling Eksplorasi: Kontrak borongan meteran yang pasti terkonversi jadi revenue.</a:t>
            </a:r>
          </a:p>
          <a:p>
            <a:pPr>
              <a:spcBef>
                <a:spcPts val="1400"/>
              </a:spcBef>
              <a:defRPr b="1" sz="2000">
                <a:solidFill>
                  <a:srgbClr val="C25934"/>
                </a:solidFill>
              </a:defRPr>
            </a:pPr>
            <a:r>
              <a:t>Supply Chain Moat (Benteng Bisnis):</a:t>
            </a:r>
          </a:p>
          <a:p>
            <a:pPr lvl="1"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t>- OPEX Terkendali Ekstrim: Beban Umum &amp; Administrasi hanya 1,3% (Rp 19,69 Juta).</a:t>
            </a:r>
          </a:p>
          <a:p>
            <a:pPr lvl="1"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t>- Fokus Eksekusi COGS (98,7%): Mayoritas pengeluaran langsung jadi mesin operasional.</a:t>
            </a:r>
          </a:p>
          <a:p>
            <a:pPr lvl="1"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t>- Disiplin Vendor &amp; Kas: Zero Bank Debt, tidak tersandera cicilan bunga, sehingga vendor rebar selalu terbayar tepat waktu.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C259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coreter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182880"/>
            <a:ext cx="1371600" cy="45434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828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FFFFFF"/>
                </a:solidFill>
              </a:defRPr>
            </a:pPr>
            <a:r>
              <a:t>COMPETITIVE LANDSCAPE &amp; ADVANTAGE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defRPr b="1" sz="2000">
                <a:solidFill>
                  <a:srgbClr val="C25934"/>
                </a:solidFill>
              </a:defRPr>
            </a:pPr>
            <a:r>
              <a:t>Pemetaan Kompetitor:</a:t>
            </a:r>
          </a:p>
          <a:p>
            <a:pPr lvl="1"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t>- Tipe A (Raksasa BUMN/Swasta Besar): Sarat birokrasi, overhead/OPEX raksasa, sangat lambat memobilisasi alat menengah.</a:t>
            </a:r>
          </a:p>
          <a:p>
            <a:pPr lvl="1"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t>- Tipe B (Vendor Alat Skala Kecil): Harga murah tapi nihil manajemen K3, log pelaporan buruk, rawan kabur saat cashflow macet.</a:t>
            </a:r>
          </a:p>
          <a:p>
            <a:pPr>
              <a:spcBef>
                <a:spcPts val="1400"/>
              </a:spcBef>
              <a:defRPr b="1" sz="2000">
                <a:solidFill>
                  <a:srgbClr val="C25934"/>
                </a:solidFill>
              </a:defRPr>
            </a:pPr>
            <a:r>
              <a:t>Keunggulan Mutlak Coreterra Geo Engineering:</a:t>
            </a:r>
          </a:p>
          <a:p>
            <a:pPr lvl="1"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t>1. Teknologi Pelaporan Real-Time (ERP): Visibilitas mutlak progres &amp; biaya.</a:t>
            </a:r>
          </a:p>
          <a:p>
            <a:pPr lvl="1"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t>2. Ketahanan Likuiditas Bintang Lima: Bantalan kas surplus menjamin vendor &amp; material terbayar, tidak kehabisan napas di tengah drilling.</a:t>
            </a:r>
          </a:p>
          <a:p>
            <a:pPr lvl="1"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t>3. Keseimbangan Hybrid: Kelincahan eksekusi alat setara kontraktor lokal, dengan tata kelola setara konsultan internasional.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C259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coreter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182880"/>
            <a:ext cx="1371600" cy="45434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828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FFFFFF"/>
                </a:solidFill>
              </a:defRPr>
            </a:pPr>
            <a:r>
              <a:t>FINANCIAL HIGHLIGHTS &amp; PROJECTION (INVESTOR-ONLY)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defRPr b="1" sz="2000">
                <a:solidFill>
                  <a:srgbClr val="C25934"/>
                </a:solidFill>
              </a:defRPr>
            </a:pPr>
            <a:r>
              <a:t>Kinerja Historis (Q3 2026 Snapshot):</a:t>
            </a:r>
          </a:p>
          <a:p>
            <a:pPr>
              <a:spcBef>
                <a:spcPts val="1400"/>
              </a:spcBef>
              <a:defRPr b="1" sz="2000">
                <a:solidFill>
                  <a:srgbClr val="C25934"/>
                </a:solidFill>
              </a:defRPr>
            </a:pPr>
            <a:r>
              <a:t>- Revenue Generation (YTD): Rp 1.470.289.340,-</a:t>
            </a:r>
          </a:p>
          <a:p>
            <a:pPr>
              <a:spcBef>
                <a:spcPts val="1400"/>
              </a:spcBef>
              <a:defRPr b="1" sz="2000">
                <a:solidFill>
                  <a:srgbClr val="C25934"/>
                </a:solidFill>
              </a:defRPr>
            </a:pPr>
            <a:r>
              <a:t>- Net Cash Margin (Surplus): +Rp 77.680.322,-</a:t>
            </a:r>
          </a:p>
          <a:p>
            <a:pPr>
              <a:spcBef>
                <a:spcPts val="1400"/>
              </a:spcBef>
              <a:defRPr b="1" sz="2000">
                <a:solidFill>
                  <a:srgbClr val="C25934"/>
                </a:solidFill>
              </a:defRPr>
            </a:pPr>
            <a:r>
              <a:t>- Rasio OPEX: 1,3% (Sangat ramping dan efisien)</a:t>
            </a:r>
          </a:p>
          <a:p>
            <a:pPr lvl="1"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t>- Current Backlog: Rp 2,07 Miliar (Kontrak aktif menunggu eksekusi)</a:t>
            </a:r>
          </a:p>
          <a:p>
            <a:pPr>
              <a:spcBef>
                <a:spcPts val="1400"/>
              </a:spcBef>
              <a:defRPr b="1" sz="2000">
                <a:solidFill>
                  <a:srgbClr val="C25934"/>
                </a:solidFill>
              </a:defRPr>
            </a:pPr>
            <a:r>
              <a:t>Proyeksi Realistis 3-5 Tahun (The Forecast):</a:t>
            </a:r>
          </a:p>
          <a:p>
            <a:pPr lvl="1"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t>- Tahun 1-2: Pertumbuhan pendapatan agregat 300% (YoY) transisi dari 5 ke 15 rig.</a:t>
            </a:r>
          </a:p>
          <a:p>
            <a:pPr>
              <a:spcBef>
                <a:spcPts val="1400"/>
              </a:spcBef>
              <a:defRPr b="1" sz="2000">
                <a:solidFill>
                  <a:srgbClr val="C25934"/>
                </a:solidFill>
              </a:defRPr>
            </a:pPr>
            <a:r>
              <a:t>- EBITDA: Target stabilisasi margin pada level 25% – 35%.</a:t>
            </a:r>
          </a:p>
          <a:p>
            <a:pPr lvl="1"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t>- Break-Even &amp; Dividen: Payback period dalam siklus 18-24 bulan berkat perputaran termin yang termanajemen ERP.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C259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coreter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182880"/>
            <a:ext cx="1371600" cy="45434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828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FFFFFF"/>
                </a:solidFill>
              </a:defRPr>
            </a:pPr>
            <a:r>
              <a:t>FUTURE EXPANSION &amp; THE ASK (INVESTOR-ONLY)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defRPr b="1" sz="2000">
                <a:solidFill>
                  <a:srgbClr val="C25934"/>
                </a:solidFill>
              </a:defRPr>
            </a:pPr>
            <a:r>
              <a:t>Peta Jalan Ekspansi (3-Year Roadmap):</a:t>
            </a:r>
          </a:p>
          <a:p>
            <a:pPr lvl="1"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t>- Tahun 1: Aggressive Capacity Scale-Up (Akuisisi 10 rig bor medium-deep &amp; mud pump).</a:t>
            </a:r>
          </a:p>
          <a:p>
            <a:pPr lvl="1"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t>- Tahun 2: Geophysical Tech Advancement (Georadar GPR &amp; Downhole logger).</a:t>
            </a:r>
          </a:p>
          <a:p>
            <a:pPr lvl="1"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t>- Tahun 3: Geo-Data as a Service (GDaaS) (Menjual lisensi big data geologi).</a:t>
            </a:r>
          </a:p>
          <a:p>
            <a:pPr>
              <a:spcBef>
                <a:spcPts val="1400"/>
              </a:spcBef>
              <a:defRPr b="1" sz="2000">
                <a:solidFill>
                  <a:srgbClr val="C25934"/>
                </a:solidFill>
              </a:defRPr>
            </a:pPr>
            <a:r>
              <a:t>The Ask &amp; Alokasi Penggunaan Dana (Fund Allocation):</a:t>
            </a:r>
          </a:p>
          <a:p>
            <a:pPr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t>Kemitraan strategis untuk mendominasi market share.</a:t>
            </a:r>
          </a:p>
          <a:p>
            <a:pPr lvl="1"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t>- 60% - Scaling Up Operasional Capex: Akuisisi alat berat dan magnetometer.</a:t>
            </a:r>
          </a:p>
          <a:p>
            <a:pPr lvl="1"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t>- 25% - Working Capital: Bantalan kas untuk membiayai 3 mega-proyek serentak.</a:t>
            </a:r>
          </a:p>
          <a:p>
            <a:pPr lvl="1"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t>- 15% - R&amp;D Sistem &amp; Penetrasi B2B: Lisensi ERP, Sertifikasi Ahli K3, dan lobi EPC.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C259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coreter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182880"/>
            <a:ext cx="1371600" cy="45434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828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FFFFFF"/>
                </a:solidFill>
              </a:defRPr>
            </a:pPr>
            <a:r>
              <a:t>CLOSING &amp; CALL TO 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t>Risiko kegagalan fondasi dan melesetnya eksplorasi bernilai triliunan rupiah. Jangan percayakan fondasi bisnis Anda pada perkiraan di atas kertas. Bermitralah dengan PT Coreterra Geo Engineering.</a:t>
            </a:r>
          </a:p>
          <a:p>
            <a:pPr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t>"Presisi di Setiap Lapisan. Kepastian di Setiap Keputusan."</a:t>
            </a:r>
          </a:p>
          <a:p>
            <a:pPr>
              <a:spcBef>
                <a:spcPts val="1400"/>
              </a:spcBef>
              <a:defRPr b="1" sz="2000">
                <a:solidFill>
                  <a:srgbClr val="C25934"/>
                </a:solidFill>
              </a:defRPr>
            </a:pPr>
            <a:r>
              <a:t>Jadwalkan Pertemuan Teknis &amp; Pitching Eksklusif:</a:t>
            </a:r>
          </a:p>
          <a:p>
            <a:pPr lvl="1"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t>- Kantor Pusat: Ciputat, Tangerang Selatan, Banten, Indonesia 15411</a:t>
            </a:r>
          </a:p>
          <a:p>
            <a:pPr>
              <a:spcBef>
                <a:spcPts val="1400"/>
              </a:spcBef>
              <a:defRPr b="1" sz="2000">
                <a:solidFill>
                  <a:srgbClr val="C25934"/>
                </a:solidFill>
              </a:defRPr>
            </a:pPr>
            <a:r>
              <a:t>- Telepon Hotline: 0812-1494-1641</a:t>
            </a:r>
          </a:p>
          <a:p>
            <a:pPr>
              <a:spcBef>
                <a:spcPts val="1400"/>
              </a:spcBef>
              <a:defRPr b="1" sz="2000">
                <a:solidFill>
                  <a:srgbClr val="C25934"/>
                </a:solidFill>
              </a:defRPr>
            </a:pPr>
            <a:r>
              <a:t>- Email Resmi: admin.cge@coreterra-geo.com</a:t>
            </a:r>
          </a:p>
          <a:p>
            <a:pPr>
              <a:spcBef>
                <a:spcPts val="1400"/>
              </a:spcBef>
              <a:defRPr b="1" sz="2000">
                <a:solidFill>
                  <a:srgbClr val="C25934"/>
                </a:solidFill>
              </a:defRPr>
            </a:pPr>
            <a:r>
              <a:t>- Portal Digital Terintegrasi: https://lode.annsa.site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