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804000"/>
                </a:solidFill>
              </a:defRPr>
            </a:pPr>
            <a:r>
              <a:t>COMPANY PROFILE &amp; STRATEGIC OVERVIEW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Pioneering Precision in Geotechnical Engineering &amp; Resource Exploration</a:t>
            </a:r>
          </a:p>
          <a:p/>
          <a:p>
            <a:r>
              <a:t>PT CORETERRA GEO ENGINEERING</a:t>
            </a:r>
          </a:p>
          <a:p>
            <a:r>
              <a:t>Ciputat, Tangerang Selatan, Banten, Indonesia 15411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PT Coreterra Geo Engineering adalah ujung tombak di sektor rekayasa geoteknik, pengeboran, dan survei geofisika. Kami hadir untuk mendisrupsi industri infrastruktur melalui presisi data bawah permukaan.</a:t>
            </a:r>
          </a:p>
          <a:p>
            <a:pPr>
              <a:defRPr sz="1800"/>
            </a:pPr>
            <a:r>
              <a:t>Pasar terjebak pada layanan geoteknik konvensional yang lambat dan rentan cost-overrun. Coreterra memecahkan masalah ini dengan memadukan eksekusi presisi (mobilisasi 5 rig serentak) dan kontrol Cloud ERP real-time.</a:t>
            </a:r>
          </a:p>
          <a:p>
            <a:pPr>
              <a:defRPr sz="1800"/>
            </a:pPr>
            <a:r>
              <a:t>Traksi: Kuartal III 2026, total inflow revenue Rp 1,47 Miliar, backlog pipeline Rp 2,07 Miliar (Proyek IKPT Solok), 0,0% gagal bayar.</a:t>
            </a:r>
          </a:p>
          <a:p>
            <a:pPr>
              <a:defRPr sz="1800"/>
            </a:pPr>
            <a:r>
              <a:t>Mission Statement: Menyediakan intelijen geoteknik dan eksekusi pengeboran berstandar global.</a:t>
            </a:r>
          </a:p>
          <a:p>
            <a:pPr>
              <a:defRPr sz="1800"/>
            </a:pPr>
            <a:r>
              <a:t>Unique Value Proposition: Zero-Default Financial Integrity dipadukan dengan Agile Rig Mobilization.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ABOUT US, CORPORATE VALUES &amp; LEGALITY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Sejarah Singkat &amp; Visi 10 Tahun</a:t>
            </a:r>
          </a:p>
          <a:p>
            <a:pPr>
              <a:defRPr sz="1800"/>
            </a:pPr>
            <a:r>
              <a:t>Berawal dari eksekusi survei geolistrik berskala menengah, kami bertransformasi menjadi kontraktor geoteknik full-stack. Visi 10 tahun kami adalah berevolusi menjadi Data-Driven Geo-Intelligence Company.</a:t>
            </a:r>
          </a:p>
          <a:p>
            <a:pPr>
              <a:defRPr sz="1800"/>
            </a:pPr>
            <a:r>
              <a:t>3 Nilai Utama (Core Values):</a:t>
            </a:r>
          </a:p>
          <a:p>
            <a:pPr lvl="1">
              <a:defRPr sz="1600"/>
            </a:pPr>
            <a:r>
              <a:t>- Precision Without Compromise: Keakuratan data log bor dan survei.</a:t>
            </a:r>
          </a:p>
          <a:p>
            <a:pPr lvl="1">
              <a:defRPr sz="1600"/>
            </a:pPr>
            <a:r>
              <a:t>- Lean &amp; Agile Execution: OPEX hanya 1,3%, fokus 98,7% pada eksekusi lapangan (COGS).</a:t>
            </a:r>
          </a:p>
          <a:p>
            <a:pPr lvl="1">
              <a:defRPr sz="1600"/>
            </a:pPr>
            <a:r>
              <a:t>- Safety &amp; Absolute Solvency: Zero bank debt.</a:t>
            </a:r>
          </a:p>
          <a:p>
            <a:pPr>
              <a:defRPr sz="1800"/>
            </a:pPr>
            <a:r>
              <a:t>Kredibilitas &amp; Legalitas Legal:</a:t>
            </a:r>
          </a:p>
          <a:p>
            <a:pPr lvl="1">
              <a:defRPr sz="1600"/>
            </a:pPr>
            <a:r>
              <a:t>- Entitas Legal: Perseroan Terbatas (PT)</a:t>
            </a:r>
          </a:p>
          <a:p>
            <a:pPr lvl="1">
              <a:defRPr sz="1600"/>
            </a:pPr>
            <a:r>
              <a:t>- Audit Finansial: Terintegrasi via sistem CoreTerra ERP (Perfect Match Bank Mandiri &amp; CIMB Niaga).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INDUSTRY PROBLEM &amp; MARKET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1. Kebutaan Data Sub-Permukaan</a:t>
            </a:r>
          </a:p>
          <a:p>
            <a:pPr>
              <a:defRPr sz="1800"/>
            </a:pPr>
            <a:r>
              <a:t>Banyak proyek bergantung pada data usang, menyebabkan cost overrun &gt; 35%.</a:t>
            </a:r>
          </a:p>
          <a:p>
            <a:pPr>
              <a:defRPr sz="1800"/>
            </a:pPr>
            <a:r>
              <a:t>2. Inefisiensi Mobilisasi &amp; Rantai Pasok Alat Berat</a:t>
            </a:r>
          </a:p>
          <a:p>
            <a:pPr>
              <a:defRPr sz="1800"/>
            </a:pPr>
            <a:r>
              <a:t>Pasar didominasi pemain lama yang lamban, mengakibatkan downtime dan denda (liquidated damages) bagi kontraktor utama.</a:t>
            </a:r>
          </a:p>
          <a:p>
            <a:pPr>
              <a:defRPr sz="1800"/>
            </a:pPr>
            <a:r>
              <a:t>3. Ketidakjelasan Termin Penagihan (Cash-Flow Bottlenecks)</a:t>
            </a:r>
          </a:p>
          <a:p>
            <a:pPr>
              <a:defRPr sz="1800"/>
            </a:pPr>
            <a:r>
              <a:t>Vendor sering kehabisan napas membiayai operasi sebelum termin dicairkan, menyebabkan proyek berhenti di tengah jalan.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OUR SOLUTION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1. Pengeboran Geoteknik &amp; Struktur Borpile (Agile Drilling)</a:t>
            </a:r>
          </a:p>
          <a:p>
            <a:pPr>
              <a:defRPr sz="1800"/>
            </a:pPr>
            <a:r>
              <a:t>Metodologi: Pengerahan Multi-Rig serentak (contoh: 5 rig simultan di Solok).</a:t>
            </a:r>
          </a:p>
          <a:p>
            <a:pPr>
              <a:defRPr sz="1800"/>
            </a:pPr>
            <a:r>
              <a:t>Manfaat: Mempercepat serah terima fase pertama hingga 40%.</a:t>
            </a:r>
          </a:p>
          <a:p>
            <a:pPr>
              <a:defRPr sz="1800"/>
            </a:pPr>
            <a:r>
              <a:t>2. Eksplorasi Geofisika Presisi Tinggi (Geolistrik &amp; Magnetik)</a:t>
            </a:r>
          </a:p>
          <a:p>
            <a:pPr>
              <a:defRPr sz="1800"/>
            </a:pPr>
            <a:r>
              <a:t>Metodologi: Pemetaan non-destruktif dengan magnetometer &amp; survei geolistrik.</a:t>
            </a:r>
          </a:p>
          <a:p>
            <a:pPr>
              <a:defRPr sz="1800"/>
            </a:pPr>
            <a:r>
              <a:t>Manfaat: Menghemat miliaran rupiah dari potensi kesalahan desain tambang.</a:t>
            </a:r>
          </a:p>
          <a:p>
            <a:pPr>
              <a:defRPr sz="1800"/>
            </a:pPr>
            <a:r>
              <a:t>3. ERP-Powered Project Management</a:t>
            </a:r>
          </a:p>
          <a:p>
            <a:pPr>
              <a:defRPr sz="1800"/>
            </a:pPr>
            <a:r>
              <a:t>Metodologi: Pelaporan operasional harian via Cloud ERP.</a:t>
            </a:r>
          </a:p>
          <a:p>
            <a:pPr>
              <a:defRPr sz="1800"/>
            </a:pPr>
            <a:r>
              <a:t>Manfaat: Memangkas proses approval termin penagihan hingga 30%.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MARKET SIZE &amp; BUSINESS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Pasar layanan geoteknik di Indonesia berada pada fase hyper-growth:</a:t>
            </a:r>
          </a:p>
          <a:p>
            <a:pPr lvl="1">
              <a:defRPr sz="1600"/>
            </a:pPr>
            <a:r>
              <a:t>- TAM (Total Addressable Market): Rp 45 Triliun+</a:t>
            </a:r>
          </a:p>
          <a:p>
            <a:pPr>
              <a:defRPr sz="1800"/>
            </a:pPr>
            <a:r>
              <a:t>Total pengeluaran nasional untuk ground engineering &amp; konstruksi fondasi khusus.</a:t>
            </a:r>
          </a:p>
          <a:p>
            <a:pPr lvl="1">
              <a:defRPr sz="1600"/>
            </a:pPr>
            <a:r>
              <a:t>- SAM (Serviceable Addressable Market): Rp 8,5 Triliun</a:t>
            </a:r>
          </a:p>
          <a:p>
            <a:pPr>
              <a:defRPr sz="1800"/>
            </a:pPr>
            <a:r>
              <a:t>Porsi pasar untuk core-drilling tambang, survei geofisika, borpile di Sumatera &amp; Jawa.</a:t>
            </a:r>
          </a:p>
          <a:p>
            <a:pPr lvl="1">
              <a:defRPr sz="1600"/>
            </a:pPr>
            <a:r>
              <a:t>- SOM (Serviceable Obtainable Market): Rp 150 Miliar (Target 3 Tahun)</a:t>
            </a:r>
          </a:p>
          <a:p>
            <a:pPr>
              <a:defRPr sz="1800"/>
            </a:pPr>
            <a:r>
              <a:t>Target penguasaan kontrak riil PT Coreterra Geo Engineering secara realistis dalam 36 bulan.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TRACTION &amp; PORTFOLIO BUKTI NYATA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Kinerja Klien &amp; Portofolio B2B (Q3 2026):</a:t>
            </a:r>
          </a:p>
          <a:p>
            <a:pPr lvl="1">
              <a:defRPr sz="1600"/>
            </a:pPr>
            <a:r>
              <a:t>- Tingkat Retensi Klien B2B: Sangat Tinggi</a:t>
            </a:r>
          </a:p>
          <a:p>
            <a:pPr lvl="1">
              <a:defRPr sz="1600"/>
            </a:pPr>
            <a:r>
              <a:t>- Kesehatan Piutang: 0,0% Bad Debt</a:t>
            </a:r>
          </a:p>
          <a:p>
            <a:pPr lvl="1">
              <a:defRPr sz="1600"/>
            </a:pPr>
            <a:r>
              <a:t>- Total Portofolio Q3 2026: Rp 1.470.289.340,-</a:t>
            </a:r>
          </a:p>
          <a:p>
            <a:pPr lvl="1">
              <a:defRPr sz="1600"/>
            </a:pPr>
            <a:r>
              <a:t>- Backlog Aktif Berjalan: Rp 2.070.000.000,-</a:t>
            </a:r>
          </a:p>
          <a:p>
            <a:pPr>
              <a:defRPr sz="1800"/>
            </a:pPr>
            <a:r>
              <a:t>Klien Strategis:</a:t>
            </a:r>
          </a:p>
          <a:p>
            <a:pPr lvl="1">
              <a:defRPr sz="1600"/>
            </a:pPr>
            <a:r>
              <a:t>- PT Solusi Monitoring Indonesia (IKPT Solok)</a:t>
            </a:r>
          </a:p>
          <a:p>
            <a:pPr lvl="1">
              <a:defRPr sz="1600"/>
            </a:pPr>
            <a:r>
              <a:t>- PT Citatah (Limestone Core Drilling)</a:t>
            </a:r>
          </a:p>
          <a:p>
            <a:pPr lvl="1">
              <a:defRPr sz="1600"/>
            </a:pPr>
            <a:r>
              <a:t>- PT Volta Indo Technology (PLTM Pongkor)</a:t>
            </a:r>
          </a:p>
          <a:p>
            <a:pPr lvl="1">
              <a:defRPr sz="1600"/>
            </a:pPr>
            <a:r>
              <a:t>- LSI Engineering (Survei Magnetik Bukit Besi)</a:t>
            </a:r>
          </a:p>
          <a:p>
            <a:pPr>
              <a:defRPr sz="1800"/>
            </a:pPr>
            <a:r>
              <a:t>Studi Kasus: PT Citatah mencatatkan surplus margin efisiensi bersih +23,0%.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BUSINESS MODEL &amp; SUPPLY CHAIN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Revenue Streams:</a:t>
            </a:r>
          </a:p>
          <a:p>
            <a:pPr>
              <a:defRPr sz="1800"/>
            </a:pPr>
            <a:r>
              <a:t>1. Kontrak Borpile &amp; Konstruksi Struktur: B2B Project-Based, progress billing.</a:t>
            </a:r>
          </a:p>
          <a:p>
            <a:pPr>
              <a:defRPr sz="1800"/>
            </a:pPr>
            <a:r>
              <a:t>2. Jasa Survei Geofisika: Margin bersih sangat tinggi (+43,8%) minim material.</a:t>
            </a:r>
          </a:p>
          <a:p>
            <a:pPr>
              <a:defRPr sz="1800"/>
            </a:pPr>
            <a:r>
              <a:t>3. Core Drilling Eksplorasi Tambang: Borongan per meter lari.</a:t>
            </a:r>
          </a:p>
          <a:p>
            <a:pPr>
              <a:defRPr sz="1800"/>
            </a:pPr>
            <a:r>
              <a:t>Supply Chain Moat (Efisiensi Vendor):</a:t>
            </a:r>
          </a:p>
          <a:p>
            <a:pPr lvl="1">
              <a:defRPr sz="1600"/>
            </a:pPr>
            <a:r>
              <a:t>- OPEX Terkendali Ekstrim: Beban umum hanya 1,3% dari total revenue.</a:t>
            </a:r>
          </a:p>
          <a:p>
            <a:pPr lvl="1">
              <a:defRPr sz="1600"/>
            </a:pPr>
            <a:r>
              <a:t>- Fokus 98,7% pada Eksekusi: Mayoritas kas menjadi tenaga operasional (COGS).</a:t>
            </a:r>
          </a:p>
          <a:p>
            <a:pPr lvl="1">
              <a:defRPr sz="1600"/>
            </a:pPr>
            <a:r>
              <a:t>- Disiplin Vendor: Nihil pinjaman bank (Zero Debt), manajemen kas ketat.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COMPETITIVE LANDSCAPE &amp;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Pemetaan Kompetitor:</a:t>
            </a:r>
          </a:p>
          <a:p>
            <a:pPr lvl="1">
              <a:defRPr sz="1600"/>
            </a:pPr>
            <a:r>
              <a:t>- Kompetitor Tipe A (Raksasa BUMN/Swasta): Sarat birokrasi, overhead raksasa, lambat.</a:t>
            </a:r>
          </a:p>
          <a:p>
            <a:pPr lvl="1">
              <a:defRPr sz="1600"/>
            </a:pPr>
            <a:r>
              <a:t>- Kompetitor Tipe B (Vendor Alat Skala Kecil): Modal kerja minim, nihil HSE, sering macet operasi.</a:t>
            </a:r>
          </a:p>
          <a:p>
            <a:pPr>
              <a:defRPr sz="1800"/>
            </a:pPr>
            <a:r>
              <a:t>Keunggulan Mutlak Coreterra:</a:t>
            </a:r>
          </a:p>
          <a:p>
            <a:pPr>
              <a:defRPr sz="1800"/>
            </a:pPr>
            <a:r>
              <a:t>1. Teknologi Pelaporan Real-Time (Proprietary ERP): Visibilitas mutlak.</a:t>
            </a:r>
          </a:p>
          <a:p>
            <a:pPr>
              <a:defRPr sz="1800"/>
            </a:pPr>
            <a:r>
              <a:t>2. Ketahanan Likuiditas Bintang Lima: Bantalan kas surplus menjamin vendor &amp; material terbayar.</a:t>
            </a:r>
          </a:p>
          <a:p>
            <a:pPr>
              <a:defRPr sz="1800"/>
            </a:pPr>
            <a:r>
              <a:t>3. Keseimbangan Hybrid: Lincah setara kontraktor lokal, kualitas setara firma internasional.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FINANCIAL HIGHLIGHTS &amp;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Kinerja Historis (Q3 2026 Snapshot):</a:t>
            </a:r>
          </a:p>
          <a:p>
            <a:pPr lvl="1">
              <a:defRPr sz="1600"/>
            </a:pPr>
            <a:r>
              <a:t>- Revenue Generation (YTD): Rp 1.470.289.340,-</a:t>
            </a:r>
          </a:p>
          <a:p>
            <a:pPr lvl="1">
              <a:defRPr sz="1600"/>
            </a:pPr>
            <a:r>
              <a:t>- Net Cash Margin (Surplus): +Rp 77.680.322,-</a:t>
            </a:r>
          </a:p>
          <a:p>
            <a:pPr lvl="1">
              <a:defRPr sz="1600"/>
            </a:pPr>
            <a:r>
              <a:t>- Rasio OPEX: 1,3% (Sangat efisien)</a:t>
            </a:r>
          </a:p>
          <a:p>
            <a:pPr lvl="1">
              <a:defRPr sz="1600"/>
            </a:pPr>
            <a:r>
              <a:t>- Current Backlog: Rp 2,07 Miliar</a:t>
            </a:r>
          </a:p>
          <a:p>
            <a:pPr>
              <a:defRPr sz="1800"/>
            </a:pPr>
            <a:r>
              <a:t>Proyeksi Realistis 3-5 Tahun:</a:t>
            </a:r>
          </a:p>
          <a:p>
            <a:pPr lvl="1">
              <a:defRPr sz="1600"/>
            </a:pPr>
            <a:r>
              <a:t>- Tahun 1-2: Pertumbuhan pendapatan 300% (YoY) dengan transisi ke 15 rig aktif.</a:t>
            </a:r>
          </a:p>
          <a:p>
            <a:pPr lvl="1">
              <a:defRPr sz="1600"/>
            </a:pPr>
            <a:r>
              <a:t>- EBITDA: Stabil pada level 25% – 35%.</a:t>
            </a:r>
          </a:p>
          <a:p>
            <a:pPr lvl="1">
              <a:defRPr sz="1600"/>
            </a:pPr>
            <a:r>
              <a:t>- Break-Even &amp; Dividen: Payback period 18-24 bulan berkat perputaran termin yang disiplin.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EXPANSION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Peta Jalan Ekspansi (3-Year Roadmap):</a:t>
            </a:r>
          </a:p>
          <a:p>
            <a:pPr lvl="1">
              <a:defRPr sz="1600"/>
            </a:pPr>
            <a:r>
              <a:t>- Tahun 1: Aggressive Capacity Scale-Up (10 unit drilling rig baru).</a:t>
            </a:r>
          </a:p>
          <a:p>
            <a:pPr lvl="1">
              <a:defRPr sz="1600"/>
            </a:pPr>
            <a:r>
              <a:t>- Tahun 2: Geophysical Tech Advancement (Georadar &amp; Downhole logger).</a:t>
            </a:r>
          </a:p>
          <a:p>
            <a:pPr lvl="1">
              <a:defRPr sz="1600"/>
            </a:pPr>
            <a:r>
              <a:t>- Tahun 3: Geo-Data as a Service (GDaaS) - Lisensi Big Data Geologi.</a:t>
            </a:r>
          </a:p>
          <a:p>
            <a:pPr>
              <a:defRPr sz="1800"/>
            </a:pPr>
            <a:r>
              <a:t>The Ask &amp; Alokasi Dana:</a:t>
            </a:r>
          </a:p>
          <a:p>
            <a:pPr>
              <a:defRPr sz="1800"/>
            </a:pPr>
            <a:r>
              <a:t>Kemitraan strategis (VC/Angel) untuk merealisasikan monopoli market share.</a:t>
            </a:r>
          </a:p>
          <a:p>
            <a:pPr lvl="1">
              <a:defRPr sz="1600"/>
            </a:pPr>
            <a:r>
              <a:t>- 60% - Scaling Up Operasional Capex (Akuisisi rig bor &amp; alat geofisika).</a:t>
            </a:r>
          </a:p>
          <a:p>
            <a:pPr lvl="1">
              <a:defRPr sz="1600"/>
            </a:pPr>
            <a:r>
              <a:t>- 25% - Working Capital (Bantalan kas untuk 3 proyek raksasa serentak).</a:t>
            </a:r>
          </a:p>
          <a:p>
            <a:pPr lvl="1">
              <a:defRPr sz="1600"/>
            </a:pPr>
            <a:r>
              <a:t>- 15% - R&amp;D Sistem &amp; Penetrasi B2B (Upgrade ERP, sertifikasi, lobi).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CLOSING, CALL TO ACTION &amp; CONTACT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Jangan percayakan fondasi bisnis Anda pada perkiraan di atas kertas. Bermitralah dengan PT Coreterra Geo Engineering; tempat di mana sains, disiplin eksekusi, dan data presisi menyatu.</a:t>
            </a:r>
          </a:p>
          <a:p>
            <a:pPr>
              <a:defRPr sz="1800"/>
            </a:pPr>
            <a:r>
              <a:t>"Presisi di Setiap Lapisan. Kepastian di Setiap Keputusan."</a:t>
            </a:r>
          </a:p>
          <a:p>
            <a:pPr>
              <a:defRPr sz="1800"/>
            </a:pPr>
            <a:r>
              <a:t>Jadwalkan Pertemuan Teknis &amp; Pitching Eksklusif:</a:t>
            </a:r>
          </a:p>
          <a:p>
            <a:pPr lvl="1">
              <a:defRPr sz="1600"/>
            </a:pPr>
            <a:r>
              <a:t>- Kantor Pusat: Ciputat, Tangerang Selatan, Banten, Indonesia 15411</a:t>
            </a:r>
          </a:p>
          <a:p>
            <a:pPr lvl="1">
              <a:defRPr sz="1600"/>
            </a:pPr>
            <a:r>
              <a:t>- Telepon Hotline: 0812-1494-1641</a:t>
            </a:r>
          </a:p>
          <a:p>
            <a:pPr lvl="1">
              <a:defRPr sz="1600"/>
            </a:pPr>
            <a:r>
              <a:t>- Email Resmi: admin.cge@coreterra-geo.com</a:t>
            </a:r>
          </a:p>
          <a:p>
            <a:pPr lvl="1">
              <a:defRPr sz="1600"/>
            </a:pPr>
            <a:r>
              <a:t>- Portal Terintegrasi: https://lode.annsa.site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